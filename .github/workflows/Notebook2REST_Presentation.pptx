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D3B6E"/>
          </a:solidFill>
          <a:ln/>
        </p:spPr>
      </p:sp>
      <p:sp>
        <p:nvSpPr>
          <p:cNvPr id="3" name="Shape 1"/>
          <p:cNvSpPr/>
          <p:nvPr/>
        </p:nvSpPr>
        <p:spPr>
          <a:xfrm>
            <a:off x="3474720" y="0"/>
            <a:ext cx="109728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-548640" y="-548640"/>
            <a:ext cx="2011680" cy="2011680"/>
          </a:xfrm>
          <a:prstGeom prst="oval">
            <a:avLst/>
          </a:prstGeom>
          <a:solidFill>
            <a:srgbClr val="0891B2">
              <a:alpha val="2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011680" y="3474720"/>
            <a:ext cx="1463040" cy="1463040"/>
          </a:xfrm>
          <a:prstGeom prst="oval">
            <a:avLst/>
          </a:prstGeom>
          <a:solidFill>
            <a:srgbClr val="06B6D4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858000" y="3200400"/>
            <a:ext cx="2560320" cy="2560320"/>
          </a:xfrm>
          <a:prstGeom prst="oval">
            <a:avLst/>
          </a:prstGeom>
          <a:solidFill>
            <a:srgbClr val="0D3B6E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457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15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8600" y="91440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28600" y="42976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 &amp; DevOps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Final Presentation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840480" y="109728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Notebook2REST</a:t>
            </a:r>
            <a:endParaRPr lang="en-US" sz="4400" dirty="0"/>
          </a:p>
        </p:txBody>
      </p:sp>
      <p:sp>
        <p:nvSpPr>
          <p:cNvPr id="11" name="Shape 9"/>
          <p:cNvSpPr/>
          <p:nvPr/>
        </p:nvSpPr>
        <p:spPr>
          <a:xfrm>
            <a:off x="3840480" y="2029968"/>
            <a:ext cx="457200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3840480" y="214884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Jupyter Notebook → RESTful Service Pipeline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GitOps &amp; Kubernetes Deployment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840480" y="3200400"/>
            <a:ext cx="1572768" cy="347472"/>
          </a:xfrm>
          <a:prstGeom prst="rect">
            <a:avLst/>
          </a:prstGeom>
          <a:solidFill>
            <a:srgbClr val="0891B2">
              <a:alpha val="3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3840480" y="320040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559552" y="3200400"/>
            <a:ext cx="1572768" cy="347472"/>
          </a:xfrm>
          <a:prstGeom prst="rect">
            <a:avLst/>
          </a:prstGeom>
          <a:solidFill>
            <a:srgbClr val="0891B2">
              <a:alpha val="3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5559552" y="320040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278624" y="3200400"/>
            <a:ext cx="1572768" cy="347472"/>
          </a:xfrm>
          <a:prstGeom prst="rect">
            <a:avLst/>
          </a:prstGeom>
          <a:solidFill>
            <a:srgbClr val="0891B2">
              <a:alpha val="3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7278624" y="320040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840480" y="3675888"/>
            <a:ext cx="1572768" cy="347472"/>
          </a:xfrm>
          <a:prstGeom prst="rect">
            <a:avLst/>
          </a:prstGeom>
          <a:solidFill>
            <a:srgbClr val="0891B2">
              <a:alpha val="3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3840480" y="3675888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ArgoCD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559552" y="3675888"/>
            <a:ext cx="1572768" cy="347472"/>
          </a:xfrm>
          <a:prstGeom prst="rect">
            <a:avLst/>
          </a:prstGeom>
          <a:solidFill>
            <a:srgbClr val="0891B2">
              <a:alpha val="3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5559552" y="3675888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278624" y="3675888"/>
            <a:ext cx="1572768" cy="347472"/>
          </a:xfrm>
          <a:prstGeom prst="rect">
            <a:avLst/>
          </a:prstGeom>
          <a:solidFill>
            <a:srgbClr val="0891B2">
              <a:alpha val="3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7278624" y="3675888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EKS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384048" y="25603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84048" y="822960"/>
            <a:ext cx="850392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Shape 3"/>
          <p:cNvSpPr/>
          <p:nvPr/>
        </p:nvSpPr>
        <p:spPr>
          <a:xfrm>
            <a:off x="384048" y="1005840"/>
            <a:ext cx="4023360" cy="749808"/>
          </a:xfrm>
          <a:prstGeom prst="rect">
            <a:avLst/>
          </a:prstGeom>
          <a:solidFill>
            <a:srgbClr val="0D3B6E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1005840"/>
            <a:ext cx="502920" cy="7498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100584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78408" y="105156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&amp; Problem Statement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78408" y="1408176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scientists need RESTful services from notebooks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81728" y="1005840"/>
            <a:ext cx="4023360" cy="749808"/>
          </a:xfrm>
          <a:prstGeom prst="rect">
            <a:avLst/>
          </a:prstGeom>
          <a:solidFill>
            <a:srgbClr val="0D3B6E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81728" y="1005840"/>
            <a:ext cx="502920" cy="7498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4681728" y="100584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276088" y="105156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276088" y="1408176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Components, data flow, and technology choices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84048" y="1920240"/>
            <a:ext cx="4023360" cy="749808"/>
          </a:xfrm>
          <a:prstGeom prst="rect">
            <a:avLst/>
          </a:prstGeom>
          <a:solidFill>
            <a:srgbClr val="0D3B6E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84048" y="1920240"/>
            <a:ext cx="502920" cy="7498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7" name="Text 15"/>
          <p:cNvSpPr/>
          <p:nvPr/>
        </p:nvSpPr>
        <p:spPr>
          <a:xfrm>
            <a:off x="384048" y="192024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78408" y="196596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Deep Dive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78408" y="2322576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Parser, code generator, Docker, Helm, Sync manager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81728" y="1920240"/>
            <a:ext cx="4023360" cy="749808"/>
          </a:xfrm>
          <a:prstGeom prst="rect">
            <a:avLst/>
          </a:prstGeom>
          <a:solidFill>
            <a:srgbClr val="0D3B6E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81728" y="1920240"/>
            <a:ext cx="502920" cy="7498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2" name="Text 20"/>
          <p:cNvSpPr/>
          <p:nvPr/>
        </p:nvSpPr>
        <p:spPr>
          <a:xfrm>
            <a:off x="4681728" y="192024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276088" y="196596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GitOps &amp; Cloud Infrastructure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76088" y="2322576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ArgoCD, Argo Workflows, AWS EKS via Terraform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84048" y="2834640"/>
            <a:ext cx="4023360" cy="749808"/>
          </a:xfrm>
          <a:prstGeom prst="rect">
            <a:avLst/>
          </a:prstGeom>
          <a:solidFill>
            <a:srgbClr val="0D3B6E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84048" y="2834640"/>
            <a:ext cx="502920" cy="7498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7" name="Text 25"/>
          <p:cNvSpPr/>
          <p:nvPr/>
        </p:nvSpPr>
        <p:spPr>
          <a:xfrm>
            <a:off x="384048" y="283464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78408" y="288036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Pipeline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78408" y="3236976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CI/CD, automated testing, GitHub Actions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81728" y="2834640"/>
            <a:ext cx="4023360" cy="749808"/>
          </a:xfrm>
          <a:prstGeom prst="rect">
            <a:avLst/>
          </a:prstGeom>
          <a:solidFill>
            <a:srgbClr val="0D3B6E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81728" y="2834640"/>
            <a:ext cx="502920" cy="7498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2" name="Text 30"/>
          <p:cNvSpPr/>
          <p:nvPr/>
        </p:nvSpPr>
        <p:spPr>
          <a:xfrm>
            <a:off x="4681728" y="283464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276088" y="288036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Evaluation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276088" y="3236976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tests, integration, demo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84048" y="3749040"/>
            <a:ext cx="4023360" cy="749808"/>
          </a:xfrm>
          <a:prstGeom prst="rect">
            <a:avLst/>
          </a:prstGeom>
          <a:solidFill>
            <a:srgbClr val="0D3B6E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84048" y="3749040"/>
            <a:ext cx="502920" cy="7498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7" name="Text 35"/>
          <p:cNvSpPr/>
          <p:nvPr/>
        </p:nvSpPr>
        <p:spPr>
          <a:xfrm>
            <a:off x="384048" y="374904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978408" y="379476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Management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78408" y="4151376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Agile/Scrum, sprints, team organisation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81728" y="3749040"/>
            <a:ext cx="4023360" cy="749808"/>
          </a:xfrm>
          <a:prstGeom prst="rect">
            <a:avLst/>
          </a:prstGeom>
          <a:solidFill>
            <a:srgbClr val="0D3B6E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681728" y="3749040"/>
            <a:ext cx="502920" cy="7498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2" name="Text 40"/>
          <p:cNvSpPr/>
          <p:nvPr/>
        </p:nvSpPr>
        <p:spPr>
          <a:xfrm>
            <a:off x="4681728" y="374904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276088" y="379476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&amp; Conclusion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276088" y="4151376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system, results, lessons learned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384048" y="25603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&amp; Problem Statement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84048" y="80467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transform notebooks into RESTful services?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84048" y="1097280"/>
            <a:ext cx="850392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Shape 4"/>
          <p:cNvSpPr/>
          <p:nvPr/>
        </p:nvSpPr>
        <p:spPr>
          <a:xfrm>
            <a:off x="384048" y="1234440"/>
            <a:ext cx="4069080" cy="3566160"/>
          </a:xfrm>
          <a:prstGeom prst="rect">
            <a:avLst/>
          </a:prstGeom>
          <a:solidFill>
            <a:srgbClr val="0D1F3C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1234440"/>
            <a:ext cx="406908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31673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THE PROBLEM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719072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Notebooks are NOT production-ready services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267712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stable API — scientists share code, not endpoints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816352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deployment is slow, error-prone &amp; undocumented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3364992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synchronisation — notebook changes don't propagate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3913632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 crisis in scientific computing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81728" y="1234440"/>
            <a:ext cx="4206240" cy="3566160"/>
          </a:xfrm>
          <a:prstGeom prst="rect">
            <a:avLst/>
          </a:prstGeom>
          <a:solidFill>
            <a:srgbClr val="0D1F3C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81728" y="1234440"/>
            <a:ext cx="420624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4800600" y="1316736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OUR SOLUTION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00600" y="1719072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REST endpoint generation from notebook cells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00600" y="2267712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AST-based code analysis — no manual annotation required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00600" y="2816352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Containerise each cell as a Docker image automatically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00600" y="3364992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GitOps sync: notebook push → live K8s service update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00600" y="3913632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 charts + ArgoCD ensure reproducible deployments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84048" y="4754880"/>
            <a:ext cx="8503920" cy="256032"/>
          </a:xfrm>
          <a:prstGeom prst="rect">
            <a:avLst/>
          </a:prstGeom>
          <a:solidFill>
            <a:srgbClr val="0891B2">
              <a:alpha val="8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384048" y="475488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Proposition: Enable domain scientists to publish production APIs from their notebooks in under 5 minutes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384048" y="25603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84048" y="84124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Three-repository GitOps pattern: Source → Orchestrator → GitOps → K8s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84048" y="1115568"/>
            <a:ext cx="850392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Shape 4"/>
          <p:cNvSpPr/>
          <p:nvPr/>
        </p:nvSpPr>
        <p:spPr>
          <a:xfrm>
            <a:off x="384048" y="1234440"/>
            <a:ext cx="1664208" cy="1005840"/>
          </a:xfrm>
          <a:prstGeom prst="rect">
            <a:avLst/>
          </a:prstGeom>
          <a:solidFill>
            <a:srgbClr val="0D3B6E"/>
          </a:solidFill>
          <a:ln/>
          <a:effectLst>
            <a:outerShdw sx="100000" sy="100000" kx="0" ky="0" algn="bl" rotWithShape="0" blurRad="635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1234440"/>
            <a:ext cx="1664208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8" name="Text 6"/>
          <p:cNvSpPr/>
          <p:nvPr/>
        </p:nvSpPr>
        <p:spPr>
          <a:xfrm>
            <a:off x="429768" y="1298448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29768" y="1810512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*.ipynb source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176272" y="1234440"/>
            <a:ext cx="1664208" cy="1005840"/>
          </a:xfrm>
          <a:prstGeom prst="rect">
            <a:avLst/>
          </a:prstGeom>
          <a:solidFill>
            <a:srgbClr val="1D4ED8"/>
          </a:solidFill>
          <a:ln/>
          <a:effectLst>
            <a:outerShdw sx="100000" sy="100000" kx="0" ky="0" algn="bl" rotWithShape="0" blurRad="635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176272" y="1234440"/>
            <a:ext cx="1664208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2" name="Text 10"/>
          <p:cNvSpPr/>
          <p:nvPr/>
        </p:nvSpPr>
        <p:spPr>
          <a:xfrm>
            <a:off x="2221992" y="1298448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21992" y="1810512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Event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968496" y="1234440"/>
            <a:ext cx="1664208" cy="1005840"/>
          </a:xfrm>
          <a:prstGeom prst="rect">
            <a:avLst/>
          </a:prstGeom>
          <a:solidFill>
            <a:srgbClr val="0891B2"/>
          </a:solidFill>
          <a:ln/>
          <a:effectLst>
            <a:outerShdw sx="100000" sy="100000" kx="0" ky="0" algn="bl" rotWithShape="0" blurRad="63500" dist="254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968496" y="1234440"/>
            <a:ext cx="1664208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6" name="Text 14"/>
          <p:cNvSpPr/>
          <p:nvPr/>
        </p:nvSpPr>
        <p:spPr>
          <a:xfrm>
            <a:off x="4014216" y="1298448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Notebook2REST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014216" y="1810512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Pod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760720" y="1234440"/>
            <a:ext cx="1664208" cy="1005840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63500" dist="254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760720" y="1234440"/>
            <a:ext cx="1664208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0" name="Text 18"/>
          <p:cNvSpPr/>
          <p:nvPr/>
        </p:nvSpPr>
        <p:spPr>
          <a:xfrm>
            <a:off x="5806440" y="1298448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GitOps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806440" y="1810512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 Charts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Manifests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552944" y="1234440"/>
            <a:ext cx="1664208" cy="1005840"/>
          </a:xfrm>
          <a:prstGeom prst="rect">
            <a:avLst/>
          </a:prstGeom>
          <a:solidFill>
            <a:srgbClr val="10B981"/>
          </a:solidFill>
          <a:ln/>
          <a:effectLst>
            <a:outerShdw sx="100000" sy="100000" kx="0" ky="0" algn="bl" rotWithShape="0" blurRad="63500" dist="25400" dir="810000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552944" y="1234440"/>
            <a:ext cx="1664208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4" name="Text 22"/>
          <p:cNvSpPr/>
          <p:nvPr/>
        </p:nvSpPr>
        <p:spPr>
          <a:xfrm>
            <a:off x="7598664" y="1298448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Cluster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(AWS EKS)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598664" y="1810512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ArgoCD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057400" y="1691640"/>
            <a:ext cx="109728" cy="10972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7" name="Shape 25"/>
          <p:cNvSpPr/>
          <p:nvPr/>
        </p:nvSpPr>
        <p:spPr>
          <a:xfrm>
            <a:off x="3849624" y="1691640"/>
            <a:ext cx="109728" cy="10972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8" name="Shape 26"/>
          <p:cNvSpPr/>
          <p:nvPr/>
        </p:nvSpPr>
        <p:spPr>
          <a:xfrm>
            <a:off x="5641848" y="1691640"/>
            <a:ext cx="109728" cy="10972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9" name="Shape 27"/>
          <p:cNvSpPr/>
          <p:nvPr/>
        </p:nvSpPr>
        <p:spPr>
          <a:xfrm>
            <a:off x="7434072" y="1691640"/>
            <a:ext cx="109728" cy="10972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0" name="Shape 28"/>
          <p:cNvSpPr/>
          <p:nvPr/>
        </p:nvSpPr>
        <p:spPr>
          <a:xfrm>
            <a:off x="384048" y="2468880"/>
            <a:ext cx="8503920" cy="2468880"/>
          </a:xfrm>
          <a:prstGeom prst="rect">
            <a:avLst/>
          </a:prstGeom>
          <a:solidFill>
            <a:srgbClr val="0D3B6E">
              <a:alpha val="7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84048" y="2468880"/>
            <a:ext cx="850392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2" name="Text 30"/>
          <p:cNvSpPr/>
          <p:nvPr/>
        </p:nvSpPr>
        <p:spPr>
          <a:xfrm>
            <a:off x="502920" y="2514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Internal Pipeline (runs per notebook change)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02920" y="2834640"/>
            <a:ext cx="347472" cy="347472"/>
          </a:xfrm>
          <a:prstGeom prst="oval">
            <a:avLst/>
          </a:prstGeom>
          <a:solidFill>
            <a:srgbClr val="0891B2"/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" y="28346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8640" y="3246120"/>
            <a:ext cx="1170432" cy="65836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6" name="Shape 34"/>
          <p:cNvSpPr/>
          <p:nvPr/>
        </p:nvSpPr>
        <p:spPr>
          <a:xfrm>
            <a:off x="548640" y="3246120"/>
            <a:ext cx="1170432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7" name="Text 35"/>
          <p:cNvSpPr/>
          <p:nvPr/>
        </p:nvSpPr>
        <p:spPr>
          <a:xfrm>
            <a:off x="548640" y="3291840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Clone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Checkout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764792" y="2990088"/>
            <a:ext cx="164592" cy="5486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9" name="Shape 37"/>
          <p:cNvSpPr/>
          <p:nvPr/>
        </p:nvSpPr>
        <p:spPr>
          <a:xfrm>
            <a:off x="1920240" y="2834640"/>
            <a:ext cx="347472" cy="347472"/>
          </a:xfrm>
          <a:prstGeom prst="oval">
            <a:avLst/>
          </a:prstGeom>
          <a:solidFill>
            <a:srgbClr val="F59E0B"/>
          </a:solidFill>
          <a:ln/>
        </p:spPr>
      </p:sp>
      <p:sp>
        <p:nvSpPr>
          <p:cNvPr id="40" name="Text 38"/>
          <p:cNvSpPr/>
          <p:nvPr/>
        </p:nvSpPr>
        <p:spPr>
          <a:xfrm>
            <a:off x="1920240" y="28346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965960" y="3246120"/>
            <a:ext cx="1170432" cy="65836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2" name="Shape 40"/>
          <p:cNvSpPr/>
          <p:nvPr/>
        </p:nvSpPr>
        <p:spPr>
          <a:xfrm>
            <a:off x="1965960" y="3246120"/>
            <a:ext cx="1170432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3" name="Text 41"/>
          <p:cNvSpPr/>
          <p:nvPr/>
        </p:nvSpPr>
        <p:spPr>
          <a:xfrm>
            <a:off x="1965960" y="3291840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 (AST)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182112" y="2990088"/>
            <a:ext cx="164592" cy="5486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45" name="Shape 43"/>
          <p:cNvSpPr/>
          <p:nvPr/>
        </p:nvSpPr>
        <p:spPr>
          <a:xfrm>
            <a:off x="3337560" y="2834640"/>
            <a:ext cx="347472" cy="347472"/>
          </a:xfrm>
          <a:prstGeom prst="oval">
            <a:avLst/>
          </a:prstGeom>
          <a:solidFill>
            <a:srgbClr val="7C3AED"/>
          </a:solidFill>
          <a:ln/>
        </p:spPr>
      </p:sp>
      <p:sp>
        <p:nvSpPr>
          <p:cNvPr id="46" name="Text 44"/>
          <p:cNvSpPr/>
          <p:nvPr/>
        </p:nvSpPr>
        <p:spPr>
          <a:xfrm>
            <a:off x="3337560" y="28346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3383280" y="3246120"/>
            <a:ext cx="1170432" cy="65836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8" name="Shape 46"/>
          <p:cNvSpPr/>
          <p:nvPr/>
        </p:nvSpPr>
        <p:spPr>
          <a:xfrm>
            <a:off x="3383280" y="3246120"/>
            <a:ext cx="1170432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9" name="Text 47"/>
          <p:cNvSpPr/>
          <p:nvPr/>
        </p:nvSpPr>
        <p:spPr>
          <a:xfrm>
            <a:off x="3383280" y="3291840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599432" y="2990088"/>
            <a:ext cx="164592" cy="5486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51" name="Shape 49"/>
          <p:cNvSpPr/>
          <p:nvPr/>
        </p:nvSpPr>
        <p:spPr>
          <a:xfrm>
            <a:off x="4754880" y="2834640"/>
            <a:ext cx="347472" cy="347472"/>
          </a:xfrm>
          <a:prstGeom prst="oval">
            <a:avLst/>
          </a:prstGeom>
          <a:solidFill>
            <a:srgbClr val="1D4ED8"/>
          </a:solidFill>
          <a:ln/>
        </p:spPr>
      </p:sp>
      <p:sp>
        <p:nvSpPr>
          <p:cNvPr id="52" name="Text 50"/>
          <p:cNvSpPr/>
          <p:nvPr/>
        </p:nvSpPr>
        <p:spPr>
          <a:xfrm>
            <a:off x="4754880" y="28346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4800600" y="3246120"/>
            <a:ext cx="1170432" cy="65836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54" name="Shape 52"/>
          <p:cNvSpPr/>
          <p:nvPr/>
        </p:nvSpPr>
        <p:spPr>
          <a:xfrm>
            <a:off x="4800600" y="3246120"/>
            <a:ext cx="1170432" cy="4572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55" name="Text 53"/>
          <p:cNvSpPr/>
          <p:nvPr/>
        </p:nvSpPr>
        <p:spPr>
          <a:xfrm>
            <a:off x="4800600" y="3291840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Build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ECR Push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016752" y="2990088"/>
            <a:ext cx="164592" cy="5486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57" name="Shape 55"/>
          <p:cNvSpPr/>
          <p:nvPr/>
        </p:nvSpPr>
        <p:spPr>
          <a:xfrm>
            <a:off x="6172200" y="2834640"/>
            <a:ext cx="347472" cy="347472"/>
          </a:xfrm>
          <a:prstGeom prst="oval">
            <a:avLst/>
          </a:prstGeom>
          <a:solidFill>
            <a:srgbClr val="10B981"/>
          </a:solidFill>
          <a:ln/>
        </p:spPr>
      </p:sp>
      <p:sp>
        <p:nvSpPr>
          <p:cNvPr id="58" name="Text 56"/>
          <p:cNvSpPr/>
          <p:nvPr/>
        </p:nvSpPr>
        <p:spPr>
          <a:xfrm>
            <a:off x="6172200" y="28346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6217920" y="3246120"/>
            <a:ext cx="1170432" cy="65836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60" name="Shape 58"/>
          <p:cNvSpPr/>
          <p:nvPr/>
        </p:nvSpPr>
        <p:spPr>
          <a:xfrm>
            <a:off x="6217920" y="3246120"/>
            <a:ext cx="1170432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1" name="Text 59"/>
          <p:cNvSpPr/>
          <p:nvPr/>
        </p:nvSpPr>
        <p:spPr>
          <a:xfrm>
            <a:off x="6217920" y="3291840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 Chart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7434072" y="2990088"/>
            <a:ext cx="164592" cy="5486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63" name="Shape 61"/>
          <p:cNvSpPr/>
          <p:nvPr/>
        </p:nvSpPr>
        <p:spPr>
          <a:xfrm>
            <a:off x="7589520" y="2834640"/>
            <a:ext cx="347472" cy="347472"/>
          </a:xfrm>
          <a:prstGeom prst="oval">
            <a:avLst/>
          </a:prstGeom>
          <a:solidFill>
            <a:srgbClr val="EC4899"/>
          </a:solidFill>
          <a:ln/>
        </p:spPr>
      </p:sp>
      <p:sp>
        <p:nvSpPr>
          <p:cNvPr id="64" name="Text 62"/>
          <p:cNvSpPr/>
          <p:nvPr/>
        </p:nvSpPr>
        <p:spPr>
          <a:xfrm>
            <a:off x="7589520" y="28346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7635240" y="3246120"/>
            <a:ext cx="1170432" cy="65836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66" name="Shape 64"/>
          <p:cNvSpPr/>
          <p:nvPr/>
        </p:nvSpPr>
        <p:spPr>
          <a:xfrm>
            <a:off x="7635240" y="3246120"/>
            <a:ext cx="1170432" cy="4572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67" name="Text 65"/>
          <p:cNvSpPr/>
          <p:nvPr/>
        </p:nvSpPr>
        <p:spPr>
          <a:xfrm>
            <a:off x="7635240" y="3291840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GitOps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&amp; Push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384048" y="25603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Implementation: Notebook Parser &amp; Code Generator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84048" y="80467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AST-based contract extraction → Jinja2 templated FastAPI endpoints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84048" y="1097280"/>
            <a:ext cx="850392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Shape 4"/>
          <p:cNvSpPr/>
          <p:nvPr/>
        </p:nvSpPr>
        <p:spPr>
          <a:xfrm>
            <a:off x="384048" y="1207008"/>
            <a:ext cx="4069080" cy="3749040"/>
          </a:xfrm>
          <a:prstGeom prst="rect">
            <a:avLst/>
          </a:prstGeom>
          <a:solidFill>
            <a:srgbClr val="0D1F3C"/>
          </a:solidFill>
          <a:ln/>
        </p:spPr>
      </p:sp>
      <p:sp>
        <p:nvSpPr>
          <p:cNvPr id="7" name="Shape 5"/>
          <p:cNvSpPr/>
          <p:nvPr/>
        </p:nvSpPr>
        <p:spPr>
          <a:xfrm>
            <a:off x="384048" y="1207008"/>
            <a:ext cx="406908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280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NotebookParser — 3-Pass Algorithm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1645920"/>
            <a:ext cx="530352" cy="2560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645920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115568" y="164592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Inventory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1938528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all assignments &amp; imports across the entire notebook using Python AST walk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02920" y="2724912"/>
            <a:ext cx="530352" cy="2560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724912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115568" y="272491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Detection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301752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Per-cell: detect outputs with inferred serialisation (JSON / Parquet / Joblib) based on RHS call patterns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02920" y="3803904"/>
            <a:ext cx="530352" cy="2560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803904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3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115568" y="3803904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Detection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" y="4096512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Per-cell: identify variables used-but-not-defined in cell → cross-cell I/O contract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02920" y="480060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Fail-fast ContractError on ambiguous patterns (exec/globals/eval)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81728" y="1207008"/>
            <a:ext cx="4206240" cy="3749040"/>
          </a:xfrm>
          <a:prstGeom prst="rect">
            <a:avLst/>
          </a:prstGeom>
          <a:solidFill>
            <a:srgbClr val="0D1F3C"/>
          </a:solidFill>
          <a:ln/>
        </p:spPr>
      </p:sp>
      <p:sp>
        <p:nvSpPr>
          <p:cNvPr id="23" name="Shape 21"/>
          <p:cNvSpPr/>
          <p:nvPr/>
        </p:nvSpPr>
        <p:spPr>
          <a:xfrm>
            <a:off x="4681728" y="1207008"/>
            <a:ext cx="420624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4" name="Text 22"/>
          <p:cNvSpPr/>
          <p:nvPr/>
        </p:nvSpPr>
        <p:spPr>
          <a:xfrm>
            <a:off x="4800600" y="128016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CellScriptGenerator — Jinja2 Templates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00600" y="164592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notebook cell → standalone FastAPI microservice: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81728" y="1965960"/>
            <a:ext cx="4206240" cy="150876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27" name="Text 25"/>
          <p:cNvSpPr/>
          <p:nvPr/>
        </p:nvSpPr>
        <p:spPr>
          <a:xfrm>
            <a:off x="4773168" y="201168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@app.post('/run')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773168" y="224028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 run(inputs: InputModel):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773168" y="246888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Original notebook cell code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773168" y="269748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= cell_code(inputs.param1)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773168" y="292608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Serialise outputs → Parquet/JSON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773168" y="315468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OutputModel(data=result)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681728" y="3621024"/>
            <a:ext cx="4206240" cy="384048"/>
          </a:xfrm>
          <a:prstGeom prst="rect">
            <a:avLst/>
          </a:prstGeom>
          <a:solidFill>
            <a:srgbClr val="0D3B6E"/>
          </a:solidFill>
          <a:ln/>
        </p:spPr>
      </p:sp>
      <p:sp>
        <p:nvSpPr>
          <p:cNvPr id="34" name="Text 32"/>
          <p:cNvSpPr/>
          <p:nvPr/>
        </p:nvSpPr>
        <p:spPr>
          <a:xfrm>
            <a:off x="4773168" y="3621024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Annotation: 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@n2r:input / @n2r:output tags supported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681728" y="4078224"/>
            <a:ext cx="4206240" cy="384048"/>
          </a:xfrm>
          <a:prstGeom prst="rect">
            <a:avLst/>
          </a:prstGeom>
          <a:solidFill>
            <a:srgbClr val="0D3B6E"/>
          </a:solidFill>
          <a:ln/>
        </p:spPr>
      </p:sp>
      <p:sp>
        <p:nvSpPr>
          <p:cNvPr id="36" name="Text 34"/>
          <p:cNvSpPr/>
          <p:nvPr/>
        </p:nvSpPr>
        <p:spPr>
          <a:xfrm>
            <a:off x="4773168" y="4078224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Serialisation: 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Auto-inferred: JSON / Parquet (DataFrame) / Joblib (ML)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681728" y="4535424"/>
            <a:ext cx="4206240" cy="384048"/>
          </a:xfrm>
          <a:prstGeom prst="rect">
            <a:avLst/>
          </a:prstGeom>
          <a:solidFill>
            <a:srgbClr val="0D3B6E"/>
          </a:solidFill>
          <a:ln/>
        </p:spPr>
      </p:sp>
      <p:sp>
        <p:nvSpPr>
          <p:cNvPr id="38" name="Text 36"/>
          <p:cNvSpPr/>
          <p:nvPr/>
        </p:nvSpPr>
        <p:spPr>
          <a:xfrm>
            <a:off x="4773168" y="4535424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Naming: 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name from first comment or notebook_name_cell_N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384048" y="25603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Containerisation &amp; Helm Chart Generation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84048" y="80467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Docker image per notebook + Helm chart per release committed to GitOps repo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84048" y="1097280"/>
            <a:ext cx="8503920" cy="36576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6" name="Shape 4"/>
          <p:cNvSpPr/>
          <p:nvPr/>
        </p:nvSpPr>
        <p:spPr>
          <a:xfrm>
            <a:off x="384048" y="1207008"/>
            <a:ext cx="4069080" cy="3749040"/>
          </a:xfrm>
          <a:prstGeom prst="rect">
            <a:avLst/>
          </a:prstGeom>
          <a:solidFill>
            <a:srgbClr val="0D1F3C"/>
          </a:solidFill>
          <a:ln/>
        </p:spPr>
      </p:sp>
      <p:sp>
        <p:nvSpPr>
          <p:cNvPr id="7" name="Shape 5"/>
          <p:cNvSpPr/>
          <p:nvPr/>
        </p:nvSpPr>
        <p:spPr>
          <a:xfrm>
            <a:off x="384048" y="1207008"/>
            <a:ext cx="4069080" cy="54864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280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NotebookImageBuilder — Docker Strategy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1682496"/>
            <a:ext cx="256032" cy="256032"/>
          </a:xfrm>
          <a:prstGeom prst="oval">
            <a:avLst/>
          </a:prstGeom>
          <a:solidFill>
            <a:srgbClr val="1D4ED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6824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68680" y="1682496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Auto-resolve packages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68680" y="1956816"/>
            <a:ext cx="3493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import names → PyPI packages (e.g. sklearn → scikit-learn). Filters stdlib to avoid unnecessary deps.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02920" y="2542032"/>
            <a:ext cx="256032" cy="256032"/>
          </a:xfrm>
          <a:prstGeom prst="oval">
            <a:avLst/>
          </a:prstGeom>
          <a:solidFill>
            <a:srgbClr val="1D4ED8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5420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68680" y="2542032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Jinja2 Dockerfile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68680" y="2816352"/>
            <a:ext cx="3493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Dockerfile per notebook: base image, conda env, cell scripts as ConfigMap mounts.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02920" y="3401568"/>
            <a:ext cx="256032" cy="256032"/>
          </a:xfrm>
          <a:prstGeom prst="oval">
            <a:avLst/>
          </a:prstGeom>
          <a:solidFill>
            <a:srgbClr val="1D4ED8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4015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68680" y="3401568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ECR Push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68680" y="3675888"/>
            <a:ext cx="3493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image via docker buildx, tags with commit SHA for full reproducibility, pushes to AWS ECR.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02920" y="4261104"/>
            <a:ext cx="256032" cy="256032"/>
          </a:xfrm>
          <a:prstGeom prst="oval">
            <a:avLst/>
          </a:prstGeom>
          <a:solidFill>
            <a:srgbClr val="1D4ED8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42611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68680" y="4261104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Serialisation deps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68680" y="4535424"/>
            <a:ext cx="3493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Auto-adds pandas/pyarrow for Parquet, joblib for ML models — zero manual configuration.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81728" y="1207008"/>
            <a:ext cx="4206240" cy="3749040"/>
          </a:xfrm>
          <a:prstGeom prst="rect">
            <a:avLst/>
          </a:prstGeom>
          <a:solidFill>
            <a:srgbClr val="0D1F3C"/>
          </a:solidFill>
          <a:ln/>
        </p:spPr>
      </p:sp>
      <p:sp>
        <p:nvSpPr>
          <p:cNvPr id="26" name="Shape 24"/>
          <p:cNvSpPr/>
          <p:nvPr/>
        </p:nvSpPr>
        <p:spPr>
          <a:xfrm>
            <a:off x="4681728" y="1207008"/>
            <a:ext cx="420624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7" name="Text 25"/>
          <p:cNvSpPr/>
          <p:nvPr/>
        </p:nvSpPr>
        <p:spPr>
          <a:xfrm>
            <a:off x="4800600" y="128016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HelmChartGenerator — GitOps Output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81728" y="1627632"/>
            <a:ext cx="4206240" cy="1627632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29" name="Text 27"/>
          <p:cNvSpPr/>
          <p:nvPr/>
        </p:nvSpPr>
        <p:spPr>
          <a:xfrm>
            <a:off x="4773168" y="166420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charts/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773168" y="1883664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nb-&lt;notebook&gt;-&lt;hash12&gt;/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773168" y="210312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Chart.yaml       # version = commit SHA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773168" y="232257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values.yaml      # notebook, baseImage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773168" y="254203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templates/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773168" y="276148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configmaps.yaml    # cell scripts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773168" y="2980944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workflow-template.yaml  # Argo DAG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681728" y="3328416"/>
            <a:ext cx="4206240" cy="457200"/>
          </a:xfrm>
          <a:prstGeom prst="rect">
            <a:avLst/>
          </a:prstGeom>
          <a:solidFill>
            <a:srgbClr val="0D3B6E"/>
          </a:solidFill>
          <a:ln/>
        </p:spPr>
      </p:sp>
      <p:sp>
        <p:nvSpPr>
          <p:cNvPr id="37" name="Text 35"/>
          <p:cNvSpPr/>
          <p:nvPr/>
        </p:nvSpPr>
        <p:spPr>
          <a:xfrm>
            <a:off x="4773168" y="332841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naming: 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= nb-&lt;stem&gt;-&lt;sha256[:12]&gt; for idempotent deploys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681728" y="3858768"/>
            <a:ext cx="4206240" cy="457200"/>
          </a:xfrm>
          <a:prstGeom prst="rect">
            <a:avLst/>
          </a:prstGeom>
          <a:solidFill>
            <a:srgbClr val="0D3B6E"/>
          </a:solidFill>
          <a:ln/>
        </p:spPr>
      </p:sp>
      <p:sp>
        <p:nvSpPr>
          <p:cNvPr id="39" name="Text 37"/>
          <p:cNvSpPr/>
          <p:nvPr/>
        </p:nvSpPr>
        <p:spPr>
          <a:xfrm>
            <a:off x="4773168" y="385876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Idempotency: 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are committed to GitOps repo; ArgoCD detects drift and re-syncs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81728" y="4389120"/>
            <a:ext cx="4206240" cy="457200"/>
          </a:xfrm>
          <a:prstGeom prst="rect">
            <a:avLst/>
          </a:prstGeom>
          <a:solidFill>
            <a:srgbClr val="0D3B6E"/>
          </a:solidFill>
          <a:ln/>
        </p:spPr>
      </p:sp>
      <p:sp>
        <p:nvSpPr>
          <p:cNvPr id="41" name="Text 39"/>
          <p:cNvSpPr/>
          <p:nvPr/>
        </p:nvSpPr>
        <p:spPr>
          <a:xfrm>
            <a:off x="4773168" y="43891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ConfigMap mounts: 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scripts mounted at /app/main.py inside each Argo step container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384048" y="25603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GitOps &amp; Cloud Infrastructure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84048" y="80467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Three-repo architecture: Notebook2REST  ·  notebook2rest-gitops  ·  notebook2rest-infra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84048" y="1097280"/>
            <a:ext cx="850392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Shape 4"/>
          <p:cNvSpPr/>
          <p:nvPr/>
        </p:nvSpPr>
        <p:spPr>
          <a:xfrm>
            <a:off x="384048" y="1234440"/>
            <a:ext cx="2788920" cy="3749040"/>
          </a:xfrm>
          <a:prstGeom prst="rect">
            <a:avLst/>
          </a:prstGeom>
          <a:solidFill>
            <a:srgbClr val="0D1F3C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1234440"/>
            <a:ext cx="2788920" cy="640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" y="131673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Notebook2REST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" y="1627632"/>
            <a:ext cx="1371600" cy="201168"/>
          </a:xfrm>
          <a:prstGeom prst="rect">
            <a:avLst/>
          </a:prstGeom>
          <a:solidFill>
            <a:srgbClr val="0891B2">
              <a:alpha val="5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75488" y="16276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Service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75488" y="19202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webhook receiver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75488" y="24688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parser &amp; code gen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5488" y="30175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builder → ECR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5488" y="35661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 chart generator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5488" y="41148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CI/CD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46120" y="1234440"/>
            <a:ext cx="2788920" cy="3749040"/>
          </a:xfrm>
          <a:prstGeom prst="rect">
            <a:avLst/>
          </a:prstGeom>
          <a:solidFill>
            <a:srgbClr val="0D1F3C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46120" y="1234440"/>
            <a:ext cx="2788920" cy="640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3337560" y="131673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notebook2rest-gitops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337560" y="1627632"/>
            <a:ext cx="1371600" cy="201168"/>
          </a:xfrm>
          <a:prstGeom prst="rect">
            <a:avLst/>
          </a:prstGeom>
          <a:solidFill>
            <a:srgbClr val="7C3AED">
              <a:alpha val="5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3337560" y="16276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ArgoCD Source of Truth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337560" y="19202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App-of-Apps root application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37560" y="24688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ApplicationSet: auto-discovers charts/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337560" y="30175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 Workflows executor RBAC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337560" y="35661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artifact repository config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337560" y="41148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deploy key for orchestrator push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108192" y="1234440"/>
            <a:ext cx="2788920" cy="3749040"/>
          </a:xfrm>
          <a:prstGeom prst="rect">
            <a:avLst/>
          </a:prstGeom>
          <a:solidFill>
            <a:srgbClr val="0D1F3C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08192" y="1234440"/>
            <a:ext cx="278892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6199632" y="131673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notebook2rest-infra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99632" y="1627632"/>
            <a:ext cx="1371600" cy="201168"/>
          </a:xfrm>
          <a:prstGeom prst="rect">
            <a:avLst/>
          </a:prstGeom>
          <a:solidFill>
            <a:srgbClr val="F59E0B">
              <a:alpha val="5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6199632" y="16276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IaC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199632" y="19202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VPC + EKS cluster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199632" y="24688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ECR image repositories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199632" y="30175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IRSA roles &amp; policies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199632" y="35661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ArgoCD + Argo Workflows install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199632" y="41148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OIDC provider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84048" y="4864608"/>
            <a:ext cx="8503920" cy="201168"/>
          </a:xfrm>
          <a:prstGeom prst="rect">
            <a:avLst/>
          </a:prstGeom>
          <a:solidFill>
            <a:srgbClr val="0891B2">
              <a:alpha val="8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384048" y="4864608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ArgoCD ApplicationSet (Git directory generator) auto-discovers every chart in charts/* and deploys to the argo namespace on EKS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384048" y="25603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Pipeline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84048" y="80467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automated CI/CD: lint → test → build → push → deploy on every commit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84048" y="1097280"/>
            <a:ext cx="850392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Shape 4"/>
          <p:cNvSpPr/>
          <p:nvPr/>
        </p:nvSpPr>
        <p:spPr>
          <a:xfrm>
            <a:off x="384048" y="1261872"/>
            <a:ext cx="2670048" cy="1353312"/>
          </a:xfrm>
          <a:prstGeom prst="rect">
            <a:avLst/>
          </a:prstGeom>
          <a:solidFill>
            <a:srgbClr val="0D1F3C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1261872"/>
            <a:ext cx="2670048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135331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41248" y="1353312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 &amp;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Check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" y="1828800"/>
            <a:ext cx="2487168" cy="36576"/>
          </a:xfrm>
          <a:prstGeom prst="rect">
            <a:avLst/>
          </a:prstGeom>
          <a:solidFill>
            <a:srgbClr val="F59E0B">
              <a:alpha val="4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75488" y="1938528"/>
            <a:ext cx="24871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flake8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mypy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73552" y="1261872"/>
            <a:ext cx="2670048" cy="1353312"/>
          </a:xfrm>
          <a:prstGeom prst="rect">
            <a:avLst/>
          </a:prstGeom>
          <a:solidFill>
            <a:srgbClr val="0D1F3C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73552" y="1261872"/>
            <a:ext cx="2670048" cy="640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3273552" y="135331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730752" y="1353312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&amp;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364992" y="1828800"/>
            <a:ext cx="2487168" cy="36576"/>
          </a:xfrm>
          <a:prstGeom prst="rect">
            <a:avLst/>
          </a:prstGeom>
          <a:solidFill>
            <a:srgbClr val="7C3AED">
              <a:alpha val="4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3364992" y="1938528"/>
            <a:ext cx="24871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90%+ coverage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163056" y="1261872"/>
            <a:ext cx="2670048" cy="1353312"/>
          </a:xfrm>
          <a:prstGeom prst="rect">
            <a:avLst/>
          </a:prstGeom>
          <a:solidFill>
            <a:srgbClr val="0D1F3C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63056" y="1261872"/>
            <a:ext cx="2670048" cy="6400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0" name="Text 18"/>
          <p:cNvSpPr/>
          <p:nvPr/>
        </p:nvSpPr>
        <p:spPr>
          <a:xfrm>
            <a:off x="6163056" y="135331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🐳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620256" y="1353312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Push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54496" y="1828800"/>
            <a:ext cx="2487168" cy="36576"/>
          </a:xfrm>
          <a:prstGeom prst="rect">
            <a:avLst/>
          </a:prstGeom>
          <a:solidFill>
            <a:srgbClr val="1D4ED8">
              <a:alpha val="4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254496" y="1938528"/>
            <a:ext cx="24871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buildx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84048" y="2834640"/>
            <a:ext cx="2670048" cy="1353312"/>
          </a:xfrm>
          <a:prstGeom prst="rect">
            <a:avLst/>
          </a:prstGeom>
          <a:solidFill>
            <a:srgbClr val="0D1F3C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84048" y="2834640"/>
            <a:ext cx="2670048" cy="640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6" name="Text 24"/>
          <p:cNvSpPr/>
          <p:nvPr/>
        </p:nvSpPr>
        <p:spPr>
          <a:xfrm>
            <a:off x="384048" y="29260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41248" y="292608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 Chart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" y="3401568"/>
            <a:ext cx="2487168" cy="36576"/>
          </a:xfrm>
          <a:prstGeom prst="rect">
            <a:avLst/>
          </a:prstGeom>
          <a:solidFill>
            <a:srgbClr val="0891B2">
              <a:alpha val="4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475488" y="3511296"/>
            <a:ext cx="24871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 package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 upload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73552" y="2834640"/>
            <a:ext cx="2670048" cy="1353312"/>
          </a:xfrm>
          <a:prstGeom prst="rect">
            <a:avLst/>
          </a:prstGeom>
          <a:solidFill>
            <a:srgbClr val="0D1F3C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73552" y="2834640"/>
            <a:ext cx="2670048" cy="640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2" name="Text 30"/>
          <p:cNvSpPr/>
          <p:nvPr/>
        </p:nvSpPr>
        <p:spPr>
          <a:xfrm>
            <a:off x="3273552" y="29260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3730752" y="292608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GitOps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364992" y="3401568"/>
            <a:ext cx="2487168" cy="36576"/>
          </a:xfrm>
          <a:prstGeom prst="rect">
            <a:avLst/>
          </a:prstGeom>
          <a:solidFill>
            <a:srgbClr val="10B981">
              <a:alpha val="4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3364992" y="3511296"/>
            <a:ext cx="24871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key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163056" y="2834640"/>
            <a:ext cx="2670048" cy="1353312"/>
          </a:xfrm>
          <a:prstGeom prst="rect">
            <a:avLst/>
          </a:prstGeom>
          <a:solidFill>
            <a:srgbClr val="0D1F3C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163056" y="2834640"/>
            <a:ext cx="2670048" cy="64008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38" name="Text 36"/>
          <p:cNvSpPr/>
          <p:nvPr/>
        </p:nvSpPr>
        <p:spPr>
          <a:xfrm>
            <a:off x="6163056" y="29260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6620256" y="292608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ArgoCD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&amp; Verify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254496" y="3401568"/>
            <a:ext cx="2487168" cy="36576"/>
          </a:xfrm>
          <a:prstGeom prst="rect">
            <a:avLst/>
          </a:prstGeom>
          <a:solidFill>
            <a:srgbClr val="EC4899">
              <a:alpha val="4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6254496" y="3511296"/>
            <a:ext cx="24871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argocd app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84048" y="4553712"/>
            <a:ext cx="8503920" cy="475488"/>
          </a:xfrm>
          <a:prstGeom prst="rect">
            <a:avLst/>
          </a:prstGeom>
          <a:solidFill>
            <a:srgbClr val="0D3B6E"/>
          </a:solidFill>
          <a:ln/>
        </p:spPr>
      </p:sp>
      <p:sp>
        <p:nvSpPr>
          <p:cNvPr id="43" name="Text 41"/>
          <p:cNvSpPr/>
          <p:nvPr/>
        </p:nvSpPr>
        <p:spPr>
          <a:xfrm>
            <a:off x="502920" y="455371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Pipeline (notebook2rest-infra): 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plan on PR → Terraform apply on main → EKS / ECR / IAM provisioned via GitHub Actions with OIDC auth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384048" y="25603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Evaluation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84048" y="80467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Multi-layer test strategy: unit → integration → end-to-end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84048" y="1097280"/>
            <a:ext cx="850392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Shape 4"/>
          <p:cNvSpPr/>
          <p:nvPr/>
        </p:nvSpPr>
        <p:spPr>
          <a:xfrm>
            <a:off x="384048" y="1207008"/>
            <a:ext cx="1938528" cy="914400"/>
          </a:xfrm>
          <a:prstGeom prst="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1207008"/>
            <a:ext cx="1938528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1261872"/>
            <a:ext cx="1938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84048" y="1773936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Notebooks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51176" y="1207008"/>
            <a:ext cx="1938528" cy="914400"/>
          </a:xfrm>
          <a:prstGeom prst="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51176" y="1207008"/>
            <a:ext cx="1938528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2551176" y="1261872"/>
            <a:ext cx="1938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551176" y="1773936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18304" y="1207008"/>
            <a:ext cx="1938528" cy="914400"/>
          </a:xfrm>
          <a:prstGeom prst="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18304" y="1207008"/>
            <a:ext cx="1938528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4718304" y="1261872"/>
            <a:ext cx="1938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718304" y="1773936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Serialisation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885432" y="1207008"/>
            <a:ext cx="1938528" cy="914400"/>
          </a:xfrm>
          <a:prstGeom prst="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885432" y="1207008"/>
            <a:ext cx="1938528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6885432" y="1261872"/>
            <a:ext cx="1938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GitOps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885432" y="1773936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E2E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84048" y="2304288"/>
            <a:ext cx="8503920" cy="2670048"/>
          </a:xfrm>
          <a:prstGeom prst="rect">
            <a:avLst/>
          </a:prstGeom>
          <a:solidFill>
            <a:srgbClr val="0D1F3C"/>
          </a:solidFill>
          <a:ln/>
        </p:spPr>
      </p:sp>
      <p:sp>
        <p:nvSpPr>
          <p:cNvPr id="23" name="Shape 21"/>
          <p:cNvSpPr/>
          <p:nvPr/>
        </p:nvSpPr>
        <p:spPr>
          <a:xfrm>
            <a:off x="384048" y="2304288"/>
            <a:ext cx="850392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23591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Coverage Layers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" y="2706624"/>
            <a:ext cx="713232" cy="20116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2706624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02920" y="2962656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NotebookParser: all 3 passes across 5 real notebooks (RAVL, Laserfarm, VeluweProtoDT, Reprolab)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02920" y="345643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ContractError raised correctly for ambiguous patterns (exec, globals, eval)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02920" y="395020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Serialisation inference: JSON / Parquet (DataFrame) / Joblib (ML Pipeline.fit)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02920" y="4443984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naming: comment-based and fallback notebook_cell_N patterns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337560" y="2706624"/>
            <a:ext cx="713232" cy="2011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2" name="Text 30"/>
          <p:cNvSpPr/>
          <p:nvPr/>
        </p:nvSpPr>
        <p:spPr>
          <a:xfrm>
            <a:off x="3337560" y="2706624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337560" y="2962656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SyncManager full pipeline: webhook → parse → generate → Helm chart committed to GitOps repo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337560" y="345643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image build with auto-resolved dependencies and correct layer caching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337560" y="395020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 chart YAML validity with helm lint and dry-run template rendering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337560" y="4443984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ConfigMap + WorkflowTemplate K8s manifests correct structure and field names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172200" y="2706624"/>
            <a:ext cx="713232" cy="2011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8" name="Text 36"/>
          <p:cNvSpPr/>
          <p:nvPr/>
        </p:nvSpPr>
        <p:spPr>
          <a:xfrm>
            <a:off x="6172200" y="2706624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172200" y="2962656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push event to deployed EKS cluster triggers real pipeline run in under 90 seconds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172200" y="345643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ArgoCD detects new Helm chart in GitOps repo and syncs WorkflowTemplate to K8s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6172200" y="395020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 Workflow DAG executes cell pods in correct dependency order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172200" y="4443984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endpoint responds correctly to parameterised requests with expected output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384048" y="25603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Management — Agile / Scrum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84048" y="80467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3-week sprint cadence with daily stand-ups, GitHub Projects backlog, and retrospectives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84048" y="1097280"/>
            <a:ext cx="850392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Shape 4"/>
          <p:cNvSpPr/>
          <p:nvPr/>
        </p:nvSpPr>
        <p:spPr>
          <a:xfrm>
            <a:off x="384048" y="1234440"/>
            <a:ext cx="2011680" cy="50292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12344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1–2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4048" y="1755648"/>
            <a:ext cx="2011680" cy="256032"/>
          </a:xfrm>
          <a:prstGeom prst="rect">
            <a:avLst/>
          </a:prstGeom>
          <a:solidFill>
            <a:srgbClr val="0D1F3C"/>
          </a:solidFill>
          <a:ln/>
        </p:spPr>
      </p:sp>
      <p:sp>
        <p:nvSpPr>
          <p:cNvPr id="9" name="Text 7"/>
          <p:cNvSpPr/>
          <p:nvPr/>
        </p:nvSpPr>
        <p:spPr>
          <a:xfrm>
            <a:off x="384048" y="17556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Setup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4048" y="206654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Repository structure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84048" y="23408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Terraform infra plan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84048" y="2615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Parser prototype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560320" y="1234440"/>
            <a:ext cx="2011680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2560320" y="12344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3–4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560320" y="1755648"/>
            <a:ext cx="2011680" cy="256032"/>
          </a:xfrm>
          <a:prstGeom prst="rect">
            <a:avLst/>
          </a:prstGeom>
          <a:solidFill>
            <a:srgbClr val="0D1F3C"/>
          </a:solidFill>
          <a:ln/>
        </p:spPr>
      </p:sp>
      <p:sp>
        <p:nvSpPr>
          <p:cNvPr id="16" name="Text 14"/>
          <p:cNvSpPr/>
          <p:nvPr/>
        </p:nvSpPr>
        <p:spPr>
          <a:xfrm>
            <a:off x="2560320" y="17556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Implementation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560320" y="206654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NotebookParser 3-pass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560320" y="23408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Code generator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560320" y="2615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Docker builder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36592" y="1234440"/>
            <a:ext cx="2011680" cy="502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4736592" y="12344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5–6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36592" y="1755648"/>
            <a:ext cx="2011680" cy="256032"/>
          </a:xfrm>
          <a:prstGeom prst="rect">
            <a:avLst/>
          </a:prstGeom>
          <a:solidFill>
            <a:srgbClr val="0D1F3C"/>
          </a:solidFill>
          <a:ln/>
        </p:spPr>
      </p:sp>
      <p:sp>
        <p:nvSpPr>
          <p:cNvPr id="23" name="Text 21"/>
          <p:cNvSpPr/>
          <p:nvPr/>
        </p:nvSpPr>
        <p:spPr>
          <a:xfrm>
            <a:off x="4736592" y="17556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GitOps &amp; Deploy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36592" y="206654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HelmChartGenerator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36592" y="23408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ArgoCD ApplicationSet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36592" y="2615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CI/CD pipelines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912864" y="1234440"/>
            <a:ext cx="2011680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6912864" y="12344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4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912864" y="1755648"/>
            <a:ext cx="2011680" cy="256032"/>
          </a:xfrm>
          <a:prstGeom prst="rect">
            <a:avLst/>
          </a:prstGeom>
          <a:solidFill>
            <a:srgbClr val="0D1F3C"/>
          </a:solidFill>
          <a:ln/>
        </p:spPr>
      </p:sp>
      <p:sp>
        <p:nvSpPr>
          <p:cNvPr id="30" name="Text 28"/>
          <p:cNvSpPr/>
          <p:nvPr/>
        </p:nvSpPr>
        <p:spPr>
          <a:xfrm>
            <a:off x="6912864" y="17556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Demo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912864" y="206654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E2E validation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912864" y="23408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Report &amp; slides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912864" y="2615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Final presentation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84048" y="2980944"/>
            <a:ext cx="8503920" cy="1993392"/>
          </a:xfrm>
          <a:prstGeom prst="rect">
            <a:avLst/>
          </a:prstGeom>
          <a:solidFill>
            <a:srgbClr val="0D1F3C"/>
          </a:solidFill>
          <a:ln/>
        </p:spPr>
      </p:sp>
      <p:sp>
        <p:nvSpPr>
          <p:cNvPr id="35" name="Shape 33"/>
          <p:cNvSpPr/>
          <p:nvPr/>
        </p:nvSpPr>
        <p:spPr>
          <a:xfrm>
            <a:off x="384048" y="2980944"/>
            <a:ext cx="850392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6" name="Text 34"/>
          <p:cNvSpPr/>
          <p:nvPr/>
        </p:nvSpPr>
        <p:spPr>
          <a:xfrm>
            <a:off x="502920" y="3035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Practices &amp; Tools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02920" y="338328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GitHub Projects: 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backlog, issues as user stories, labels for priority (Must/Should/Could)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00600" y="338328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Daily Stand-ups: 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15-min async check-ins via team channel; blockers escalated in sprint review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02920" y="3895344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Code Review: 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PRs required 1 reviewer approval; feature branches with squash merge to main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800600" y="3895344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Risk Management: 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K8s quota limits, ECR cost, and GitOps SSH key management as top risks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02920" y="4407408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Definition of Done: 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merged + tests passing + deployed on EKS + demo-able = story complete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800600" y="4407408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Retrospectives: 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End-of-sprint: what went well, what to improve; velocity tracked by story points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384048" y="25603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&amp; Live System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84048" y="80467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End-to-end: push a notebook change → watch the REST service update on Kubernetes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84048" y="1097280"/>
            <a:ext cx="850392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1554480"/>
            <a:ext cx="36576" cy="201168"/>
          </a:xfrm>
          <a:prstGeom prst="rect">
            <a:avLst/>
          </a:prstGeom>
          <a:solidFill>
            <a:srgbClr val="0891B2">
              <a:alpha val="5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225296"/>
            <a:ext cx="310896" cy="310896"/>
          </a:xfrm>
          <a:prstGeom prst="oval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2252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932688" y="1207008"/>
            <a:ext cx="914400" cy="329184"/>
          </a:xfrm>
          <a:prstGeom prst="rect">
            <a:avLst/>
          </a:prstGeom>
          <a:solidFill>
            <a:srgbClr val="0891B2">
              <a:alpha val="7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32688" y="120700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993392" y="1225296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 RAVL.ipynb in notebook repo, git push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119872" y="1207008"/>
            <a:ext cx="658368" cy="329184"/>
          </a:xfrm>
          <a:prstGeom prst="rect">
            <a:avLst/>
          </a:prstGeom>
          <a:solidFill>
            <a:srgbClr val="0D3B6E"/>
          </a:solidFill>
          <a:ln/>
        </p:spPr>
      </p:sp>
      <p:sp>
        <p:nvSpPr>
          <p:cNvPr id="13" name="Text 11"/>
          <p:cNvSpPr/>
          <p:nvPr/>
        </p:nvSpPr>
        <p:spPr>
          <a:xfrm>
            <a:off x="8119872" y="1207008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58368" y="2084832"/>
            <a:ext cx="36576" cy="201168"/>
          </a:xfrm>
          <a:prstGeom prst="rect">
            <a:avLst/>
          </a:prstGeom>
          <a:solidFill>
            <a:srgbClr val="0891B2">
              <a:alpha val="5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502920" y="1755648"/>
            <a:ext cx="310896" cy="310896"/>
          </a:xfrm>
          <a:prstGeom prst="oval">
            <a:avLst/>
          </a:prstGeom>
          <a:solidFill>
            <a:srgbClr val="0891B2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17556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32688" y="1737360"/>
            <a:ext cx="914400" cy="329184"/>
          </a:xfrm>
          <a:prstGeom prst="rect">
            <a:avLst/>
          </a:prstGeom>
          <a:solidFill>
            <a:srgbClr val="0891B2">
              <a:alpha val="7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932688" y="173736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993392" y="1755648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sends POST /webhook/github with push payload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119872" y="1737360"/>
            <a:ext cx="658368" cy="329184"/>
          </a:xfrm>
          <a:prstGeom prst="rect">
            <a:avLst/>
          </a:prstGeom>
          <a:solidFill>
            <a:srgbClr val="0D3B6E"/>
          </a:solidFill>
          <a:ln/>
        </p:spPr>
      </p:sp>
      <p:sp>
        <p:nvSpPr>
          <p:cNvPr id="21" name="Text 19"/>
          <p:cNvSpPr/>
          <p:nvPr/>
        </p:nvSpPr>
        <p:spPr>
          <a:xfrm>
            <a:off x="8119872" y="1737360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58368" y="2615184"/>
            <a:ext cx="36576" cy="201168"/>
          </a:xfrm>
          <a:prstGeom prst="rect">
            <a:avLst/>
          </a:prstGeom>
          <a:solidFill>
            <a:srgbClr val="0891B2">
              <a:alpha val="5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502920" y="2286000"/>
            <a:ext cx="310896" cy="310896"/>
          </a:xfrm>
          <a:prstGeom prst="oval">
            <a:avLst/>
          </a:prstGeom>
          <a:solidFill>
            <a:srgbClr val="0891B2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932688" y="2267712"/>
            <a:ext cx="914400" cy="329184"/>
          </a:xfrm>
          <a:prstGeom prst="rect">
            <a:avLst/>
          </a:prstGeom>
          <a:solidFill>
            <a:srgbClr val="0891B2">
              <a:alpha val="7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932688" y="226771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993392" y="2286000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 extracts cell contracts from modified notebook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119872" y="2267712"/>
            <a:ext cx="658368" cy="329184"/>
          </a:xfrm>
          <a:prstGeom prst="rect">
            <a:avLst/>
          </a:prstGeom>
          <a:solidFill>
            <a:srgbClr val="0D3B6E"/>
          </a:solidFill>
          <a:ln/>
        </p:spPr>
      </p:sp>
      <p:sp>
        <p:nvSpPr>
          <p:cNvPr id="29" name="Text 27"/>
          <p:cNvSpPr/>
          <p:nvPr/>
        </p:nvSpPr>
        <p:spPr>
          <a:xfrm>
            <a:off x="8119872" y="2267712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58368" y="3145536"/>
            <a:ext cx="36576" cy="201168"/>
          </a:xfrm>
          <a:prstGeom prst="rect">
            <a:avLst/>
          </a:prstGeom>
          <a:solidFill>
            <a:srgbClr val="0891B2">
              <a:alpha val="5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502920" y="2816352"/>
            <a:ext cx="310896" cy="310896"/>
          </a:xfrm>
          <a:prstGeom prst="oval">
            <a:avLst/>
          </a:prstGeom>
          <a:solidFill>
            <a:srgbClr val="0891B2"/>
          </a:solidFill>
          <a:ln/>
        </p:spPr>
      </p:sp>
      <p:sp>
        <p:nvSpPr>
          <p:cNvPr id="32" name="Text 30"/>
          <p:cNvSpPr/>
          <p:nvPr/>
        </p:nvSpPr>
        <p:spPr>
          <a:xfrm>
            <a:off x="502920" y="28163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932688" y="2798064"/>
            <a:ext cx="914400" cy="329184"/>
          </a:xfrm>
          <a:prstGeom prst="rect">
            <a:avLst/>
          </a:prstGeom>
          <a:solidFill>
            <a:srgbClr val="0891B2">
              <a:alpha val="7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932688" y="2798064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993392" y="2816352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image built, tagged with commit SHA, pushed to ECR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8119872" y="2798064"/>
            <a:ext cx="658368" cy="329184"/>
          </a:xfrm>
          <a:prstGeom prst="rect">
            <a:avLst/>
          </a:prstGeom>
          <a:solidFill>
            <a:srgbClr val="0D3B6E"/>
          </a:solidFill>
          <a:ln/>
        </p:spPr>
      </p:sp>
      <p:sp>
        <p:nvSpPr>
          <p:cNvPr id="37" name="Text 35"/>
          <p:cNvSpPr/>
          <p:nvPr/>
        </p:nvSpPr>
        <p:spPr>
          <a:xfrm>
            <a:off x="8119872" y="2798064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~30s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58368" y="3675888"/>
            <a:ext cx="36576" cy="201168"/>
          </a:xfrm>
          <a:prstGeom prst="rect">
            <a:avLst/>
          </a:prstGeom>
          <a:solidFill>
            <a:srgbClr val="0891B2">
              <a:alpha val="5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02920" y="3346704"/>
            <a:ext cx="310896" cy="310896"/>
          </a:xfrm>
          <a:prstGeom prst="oval">
            <a:avLst/>
          </a:prstGeom>
          <a:solidFill>
            <a:srgbClr val="0891B2"/>
          </a:solidFill>
          <a:ln/>
        </p:spPr>
      </p:sp>
      <p:sp>
        <p:nvSpPr>
          <p:cNvPr id="40" name="Text 38"/>
          <p:cNvSpPr/>
          <p:nvPr/>
        </p:nvSpPr>
        <p:spPr>
          <a:xfrm>
            <a:off x="502920" y="33467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932688" y="3328416"/>
            <a:ext cx="914400" cy="329184"/>
          </a:xfrm>
          <a:prstGeom prst="rect">
            <a:avLst/>
          </a:prstGeom>
          <a:solidFill>
            <a:srgbClr val="0891B2">
              <a:alpha val="7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932688" y="3328416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993392" y="3346704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Helm chart committed to notebook2rest-gitops repo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8119872" y="3328416"/>
            <a:ext cx="658368" cy="329184"/>
          </a:xfrm>
          <a:prstGeom prst="rect">
            <a:avLst/>
          </a:prstGeom>
          <a:solidFill>
            <a:srgbClr val="0D3B6E"/>
          </a:solidFill>
          <a:ln/>
        </p:spPr>
      </p:sp>
      <p:sp>
        <p:nvSpPr>
          <p:cNvPr id="45" name="Text 43"/>
          <p:cNvSpPr/>
          <p:nvPr/>
        </p:nvSpPr>
        <p:spPr>
          <a:xfrm>
            <a:off x="8119872" y="3328416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~40s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658368" y="4206240"/>
            <a:ext cx="36576" cy="201168"/>
          </a:xfrm>
          <a:prstGeom prst="rect">
            <a:avLst/>
          </a:prstGeom>
          <a:solidFill>
            <a:srgbClr val="0891B2">
              <a:alpha val="5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02920" y="3877056"/>
            <a:ext cx="310896" cy="310896"/>
          </a:xfrm>
          <a:prstGeom prst="oval">
            <a:avLst/>
          </a:prstGeom>
          <a:solidFill>
            <a:srgbClr val="0891B2"/>
          </a:solidFill>
          <a:ln/>
        </p:spPr>
      </p:sp>
      <p:sp>
        <p:nvSpPr>
          <p:cNvPr id="48" name="Text 46"/>
          <p:cNvSpPr/>
          <p:nvPr/>
        </p:nvSpPr>
        <p:spPr>
          <a:xfrm>
            <a:off x="502920" y="38770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932688" y="3858768"/>
            <a:ext cx="914400" cy="329184"/>
          </a:xfrm>
          <a:prstGeom prst="rect">
            <a:avLst/>
          </a:prstGeom>
          <a:solidFill>
            <a:srgbClr val="0891B2">
              <a:alpha val="70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932688" y="385876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ArgoCD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993392" y="3877056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ApplicationSet detects new chart, syncs to K8s cluster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8119872" y="3858768"/>
            <a:ext cx="658368" cy="329184"/>
          </a:xfrm>
          <a:prstGeom prst="rect">
            <a:avLst/>
          </a:prstGeom>
          <a:solidFill>
            <a:srgbClr val="0D3B6E"/>
          </a:solidFill>
          <a:ln/>
        </p:spPr>
      </p:sp>
      <p:sp>
        <p:nvSpPr>
          <p:cNvPr id="53" name="Text 51"/>
          <p:cNvSpPr/>
          <p:nvPr/>
        </p:nvSpPr>
        <p:spPr>
          <a:xfrm>
            <a:off x="8119872" y="3858768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~60s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502920" y="4407408"/>
            <a:ext cx="310896" cy="310896"/>
          </a:xfrm>
          <a:prstGeom prst="oval">
            <a:avLst/>
          </a:prstGeom>
          <a:solidFill>
            <a:srgbClr val="0891B2"/>
          </a:solidFill>
          <a:ln/>
        </p:spPr>
      </p:sp>
      <p:sp>
        <p:nvSpPr>
          <p:cNvPr id="55" name="Text 53"/>
          <p:cNvSpPr/>
          <p:nvPr/>
        </p:nvSpPr>
        <p:spPr>
          <a:xfrm>
            <a:off x="502920" y="44074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932688" y="4389120"/>
            <a:ext cx="914400" cy="329184"/>
          </a:xfrm>
          <a:prstGeom prst="rect">
            <a:avLst/>
          </a:prstGeom>
          <a:solidFill>
            <a:srgbClr val="0891B2">
              <a:alpha val="70000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932688" y="438912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Live!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1993392" y="4407408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 WorkflowTemplate active — POST /run returns results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8119872" y="4389120"/>
            <a:ext cx="658368" cy="329184"/>
          </a:xfrm>
          <a:prstGeom prst="rect">
            <a:avLst/>
          </a:prstGeom>
          <a:solidFill>
            <a:srgbClr val="0D3B6E"/>
          </a:solidFill>
          <a:ln/>
        </p:spPr>
      </p:sp>
      <p:sp>
        <p:nvSpPr>
          <p:cNvPr id="60" name="Text 58"/>
          <p:cNvSpPr/>
          <p:nvPr/>
        </p:nvSpPr>
        <p:spPr>
          <a:xfrm>
            <a:off x="8119872" y="4389120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~90s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384048" y="4864608"/>
            <a:ext cx="8503920" cy="201168"/>
          </a:xfrm>
          <a:prstGeom prst="rect">
            <a:avLst/>
          </a:prstGeom>
          <a:solidFill>
            <a:srgbClr val="0D3B6E"/>
          </a:solidFill>
          <a:ln/>
        </p:spPr>
      </p:sp>
      <p:sp>
        <p:nvSpPr>
          <p:cNvPr id="62" name="Text 60"/>
          <p:cNvSpPr/>
          <p:nvPr/>
        </p:nvSpPr>
        <p:spPr>
          <a:xfrm>
            <a:off x="502920" y="486460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Endpoints: 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/health  ·  POST /webhook/github  ·  POST /process  ·  GET /status  ·  POST /run (generated per cell)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3B6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Shape 3"/>
          <p:cNvSpPr/>
          <p:nvPr/>
        </p:nvSpPr>
        <p:spPr>
          <a:xfrm>
            <a:off x="-914400" y="-914400"/>
            <a:ext cx="3200400" cy="3200400"/>
          </a:xfrm>
          <a:prstGeom prst="oval">
            <a:avLst/>
          </a:prstGeom>
          <a:solidFill>
            <a:srgbClr val="0891B2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858000" y="2926080"/>
            <a:ext cx="3200400" cy="3200400"/>
          </a:xfrm>
          <a:prstGeom prst="oval">
            <a:avLst/>
          </a:prstGeom>
          <a:solidFill>
            <a:srgbClr val="0A1628">
              <a:alpha val="6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Lessons Learned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0" y="868680"/>
            <a:ext cx="365760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097280"/>
            <a:ext cx="4160520" cy="1115568"/>
          </a:xfrm>
          <a:prstGeom prst="rect">
            <a:avLst/>
          </a:prstGeom>
          <a:solidFill>
            <a:srgbClr val="0D1F3C">
              <a:alpha val="80000"/>
            </a:srgbClr>
          </a:solidFill>
          <a:ln/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097280"/>
            <a:ext cx="416052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17043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0120" y="117043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 working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1554480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push → live K8s REST endpoint in ~90 seconds, end-to-end on AWS EKS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46320" y="1097280"/>
            <a:ext cx="4160520" cy="1115568"/>
          </a:xfrm>
          <a:prstGeom prst="rect">
            <a:avLst/>
          </a:prstGeom>
          <a:solidFill>
            <a:srgbClr val="0D1F3C">
              <a:alpha val="80000"/>
            </a:srgbClr>
          </a:solidFill>
          <a:ln/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46320" y="1097280"/>
            <a:ext cx="416052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117043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349240" y="117043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GitOps proven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37760" y="1554480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Three-repository pattern (source / orchestrator / gitops) provides clear separation of concerns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2359152"/>
            <a:ext cx="4160520" cy="1115568"/>
          </a:xfrm>
          <a:prstGeom prst="rect">
            <a:avLst/>
          </a:prstGeom>
          <a:solidFill>
            <a:srgbClr val="0D1F3C">
              <a:alpha val="80000"/>
            </a:srgbClr>
          </a:solidFill>
          <a:ln/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2359152"/>
            <a:ext cx="416052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2432304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60120" y="243230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Zero-config containerisation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2816352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AST-based parser correctly identifies cell I/O contracts without manual annotation in all test notebooks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46320" y="2359152"/>
            <a:ext cx="4160520" cy="1115568"/>
          </a:xfrm>
          <a:prstGeom prst="rect">
            <a:avLst/>
          </a:prstGeom>
          <a:solidFill>
            <a:srgbClr val="0D1F3C">
              <a:alpha val="80000"/>
            </a:srgbClr>
          </a:solidFill>
          <a:ln/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2359152"/>
            <a:ext cx="416052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0" y="2432304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349240" y="243230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 IaC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37760" y="2816352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provisions reproducible EKS + ECR + IAM + ArgoCD stack from scratch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3621024"/>
            <a:ext cx="4160520" cy="1115568"/>
          </a:xfrm>
          <a:prstGeom prst="rect">
            <a:avLst/>
          </a:prstGeom>
          <a:solidFill>
            <a:srgbClr val="0D1F3C">
              <a:alpha val="80000"/>
            </a:srgbClr>
          </a:solidFill>
          <a:ln/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" y="3621024"/>
            <a:ext cx="416052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369417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60120" y="369417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48640" y="4078224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Serialisation inference (JSON/Parquet/Joblib) is the hardest problem — ambiguous patterns require explicit annotation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846320" y="3621024"/>
            <a:ext cx="4160520" cy="1115568"/>
          </a:xfrm>
          <a:prstGeom prst="rect">
            <a:avLst/>
          </a:prstGeom>
          <a:solidFill>
            <a:srgbClr val="0D1F3C">
              <a:alpha val="80000"/>
            </a:srgbClr>
          </a:solidFill>
          <a:ln/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46320" y="3621024"/>
            <a:ext cx="416052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6" name="Text 34"/>
          <p:cNvSpPr/>
          <p:nvPr/>
        </p:nvSpPr>
        <p:spPr>
          <a:xfrm>
            <a:off x="4937760" y="369417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🔮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349240" y="369417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937760" y="4078224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support (R kernels), streaming cell outputs, dependency graph visualisation, SLA monitoring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914400" y="48280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Group 15 · Serverless Scientific Workflow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Notebook2REST</dc:title>
  <dc:subject>PptxGenJS Presentation</dc:subject>
  <dc:creator>Group 15</dc:creator>
  <cp:lastModifiedBy>Group 15</cp:lastModifiedBy>
  <cp:revision>1</cp:revision>
  <dcterms:created xsi:type="dcterms:W3CDTF">2026-03-17T12:51:30Z</dcterms:created>
  <dcterms:modified xsi:type="dcterms:W3CDTF">2026-03-17T12:51:30Z</dcterms:modified>
</cp:coreProperties>
</file>